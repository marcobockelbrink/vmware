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KAPAZITÄTS-DASHBOARD FÜR VMWARE ARIA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2F5FA"/>
                </a:solidFill>
                <a:latin typeface="Segoe UI"/>
              </a:rPr>
              <a:t>Kapazität sehen.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>
                <a:solidFill>
                  <a:srgbClr val="F2F5FA"/>
                </a:solidFill>
                <a:latin typeface="Segoe UI"/>
              </a:rPr>
              <a:t>Planen. Freigeben.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93A0B5"/>
                </a:solidFill>
                <a:latin typeface="Segoe UI"/>
              </a:rPr>
              <a:t>Die gesamte virtuelle Landschaft auf einen Blick — in einem einzigen, abhängigkeitsfreien Werkzeug.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5257800"/>
            <a:ext cx="5852160" cy="18288"/>
          </a:xfrm>
          <a:prstGeom prst="rect">
            <a:avLst/>
          </a:prstGeom>
          <a:solidFill>
            <a:srgbClr val="2A36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93A0B5"/>
                </a:solidFill>
                <a:latin typeface="Segoe UI"/>
              </a:rPr>
              <a:t>Eine Python-Datei · keine Fremd-Abhängigkeiten · zweisprachig DE/EN · läuft auf jedem RHEL-Host · über 100 Releases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1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HIGHLIGHT 1 · 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Freie Kapazität auf einen 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Sofort erkennen, wo Reserven sind — und wo es eng wird.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Freie vCPU, RAM &amp; Storage je Cluster, farbcodiert nach Auslastung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Ausfallreserve (N+1) und vSAN-Faktor bereits eingerechnet — keine Excel-Bastelei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Ein Klick zum CSV-Export für Reports ans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822960"/>
            <a:ext cx="6720840" cy="52578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kapazita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01445"/>
            <a:ext cx="6501384" cy="3900830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2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HIGHLIGHT 2 · TIEFE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Vom Cluster bis zur VM — ein Klick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Volle Detailtiefe, ganz ohne vCenter-Login.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CPU, RAM, Storage, Netzwerk, Hosts &amp; VMs je Cluster in einer Karte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Tanzu-/Kubernetes-Reservierungen zählen automatisch mit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Alle Zahlen mit derselben, nachvollziehbaren Rechenlogik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822960"/>
            <a:ext cx="6720840" cy="52578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393088"/>
            <a:ext cx="6501384" cy="4117543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3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HIGHLIGHT 3 ·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Ressourcen mit klarem Freigabe-Prozess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Nichts wird unbemerkt vergeben — alles ist nachvollziehbar.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Mehrstufiger Genehmigungs-Workflow je Team, inkl. Auto-Freigabe nach Schwellen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Warnung, wenn eine Anfrage nicht mehr in den Cluster passt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Lückenloses Audit-Log und automatische Mail-Benachrichtigungen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822960"/>
            <a:ext cx="6720840" cy="52578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genehmig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088667"/>
            <a:ext cx="6501384" cy="2726386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4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HIGHLIGHT 4 · PROGNOSE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Wohin wächst die Umgebung?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Investitionsentscheidungen datenbasiert statt aus dem Bauch.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Trends aus bis zu 2 Jahren Historie: RAM/vCPU/Disk je VM, Auslastung, VM-Wachstum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Frühzeitig erkennen, wann Erweiterungen fällig werden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Selbst gezeichnete Charts — komplett offline, kein externer Dienst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822960"/>
            <a:ext cx="6720840" cy="52578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statisti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393088"/>
            <a:ext cx="6501384" cy="4117543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77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HIGHLIGHT 5 · REICHWEITE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70432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5FA"/>
                </a:solidFill>
                <a:latin typeface="Segoe UI"/>
              </a:rPr>
              <a:t>Alle Rechenzentren — auch die isolierten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Eine Sicht für die ganze Landschaft, rollengerecht abgesichert.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44805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Mehrere vROps-Quellen in einer Übersicht (Quellen-Badge je Cluster)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Isolierte vCenter ohne Netz per Offline-Import (PowerCLI) einbinden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Storage-Brücke: LUN-Erweiterungen direkt ans Storage-Team (API/CSV)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822960"/>
            <a:ext cx="6720840" cy="525780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sto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674815"/>
            <a:ext cx="6501384" cy="3554089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6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MEHR FUNKTIONEN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2F5FA"/>
                </a:solidFill>
                <a:latin typeface="Segoe UI"/>
              </a:rPr>
              <a:t>Und da steckt noch mehr drin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474720" cy="31546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v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15852"/>
            <a:ext cx="3255264" cy="1723375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488289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VLAN-/Netzwerk-Suche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230368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3A0B5"/>
                </a:solidFill>
                <a:latin typeface="Segoe UI"/>
              </a:rPr>
              <a:t>Portgruppen &amp; VLANs clusterübergreifend finden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00200"/>
            <a:ext cx="3474720" cy="31546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verwalt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267981"/>
            <a:ext cx="3255264" cy="1819118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398264" y="488289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Rollen, AD-Gruppen &amp; Sichtbarkeit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5230368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3A0B5"/>
                </a:solidFill>
                <a:latin typeface="Segoe UI"/>
              </a:rPr>
              <a:t>feingranular steuerbar, quellenbezogen filterbar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600200"/>
            <a:ext cx="3474720" cy="31546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9_apido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5" y="2148302"/>
            <a:ext cx="3255264" cy="2058475"/>
          </a:xfrm>
          <a:prstGeom prst="rect">
            <a:avLst/>
          </a:prstGeom>
          <a:ln w="15875">
            <a:solidFill>
              <a:srgbClr val="2A365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8202168" y="4882896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5FA"/>
                </a:solidFill>
                <a:latin typeface="Segoe UI"/>
              </a:rPr>
              <a:t>Eingebaute REST-API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5230368"/>
            <a:ext cx="3429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3A0B5"/>
                </a:solidFill>
                <a:latin typeface="Segoe UI"/>
              </a:rPr>
              <a:t>für Grafana, CMDB &amp; Automatisierung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7C83FF"/>
                </a:solidFill>
                <a:latin typeface="Segoe UI"/>
              </a:rPr>
              <a:t>Außerdem: </a:t>
            </a:r>
            <a:r>
              <a:rPr sz="1250" b="0">
                <a:solidFill>
                  <a:srgbClr val="93A0B5"/>
                </a:solidFill>
                <a:latin typeface="Segoe UI"/>
              </a:rPr>
              <a:t>Hell-/Dunkel-Modus · SFTP-Backup · Mail-Benachrichtigungen &amp; Erinnerungen · CSV-Import/Export · Auto-Freigabe · Reviewer-Handbuch · Ankündigungen · konfigurierbare Zeitzone · seitenweises Blättern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7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ENTWICKLUNG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2F5FA"/>
                </a:solidFill>
                <a:latin typeface="Segoe UI"/>
              </a:rPr>
              <a:t>Das Projekt in 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93A0B5"/>
                </a:solidFill>
                <a:latin typeface="Segoe UI"/>
              </a:rPr>
              <a:t>Von der ersten Zeile bis heute — in rund zwei Wochen aktiver Entwicklung.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63347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1129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Releases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2424" y="237744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263347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167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351129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Commits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7" y="237744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7" y="263347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11.114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351129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Zeilen Code · 1 Datei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9992" y="237744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9992" y="263347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351129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Fremd-Abhängigkeiten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5196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0799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858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automatisierte Smoke-Checks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2424" y="425196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2424" y="450799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53858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Security-Scanner in der CI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7" y="425196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7" y="450799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620+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53858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Übersetzungen · DE ↔ 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9992" y="4251960"/>
            <a:ext cx="2560320" cy="173736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9992" y="4507992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7C83FF"/>
                </a:solidFill>
                <a:latin typeface="Segoe U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17152" y="5385816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3A0B5"/>
                </a:solidFill>
                <a:latin typeface="Segoe UI"/>
              </a:rPr>
              <a:t>Verwaltungs-Bereiche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8 /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2F5FA"/>
                </a:solidFill>
                <a:latin typeface="Segoe UI"/>
              </a:rPr>
              <a:t>Warum das überzeugt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5349240" cy="17830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23500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83FF"/>
                </a:solidFill>
                <a:latin typeface="Segoe UI"/>
              </a:rPr>
              <a:t>Betrieb &amp; Kosten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807208"/>
            <a:ext cx="4800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Eine einzige Python-Datei — kein Build, keine Datenbank, keine Fremd-Pakete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Läuft auf jedem RHEL-Host; ein Update = eine Datei austauschen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148840"/>
            <a:ext cx="5349240" cy="17830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35000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83FF"/>
                </a:solidFill>
                <a:latin typeface="Segoe UI"/>
              </a:rPr>
              <a:t>Sicherheit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2807208"/>
            <a:ext cx="4800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AD-Anmeldung, rollenbasierte Sichtbarkeit, quellenbezogene Filter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5 unabhängige Security-Scanner in der CI, geschützter main-Branch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5349240" cy="17830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43616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83FF"/>
                </a:solidFill>
                <a:latin typeface="Segoe UI"/>
              </a:rPr>
              <a:t>Reichweite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818888"/>
            <a:ext cx="4800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Zweisprachig DE/EN, offline- und proxy-fähig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Lesende API für Grafana, CMDB &amp; 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160520"/>
            <a:ext cx="5349240" cy="17830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436168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7C83FF"/>
                </a:solidFill>
                <a:latin typeface="Segoe UI"/>
              </a:rPr>
              <a:t>Pflege &amp; Reife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4818888"/>
            <a:ext cx="4800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Aktiv weiterentwickelt — über 100 Releases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7C83FF"/>
                </a:solidFill>
                <a:latin typeface="Segoe UI"/>
              </a:rPr>
              <a:t>▸  </a:t>
            </a:r>
            <a:r>
              <a:rPr sz="1400" b="0">
                <a:solidFill>
                  <a:srgbClr val="F2F5FA"/>
                </a:solidFill>
                <a:latin typeface="Segoe UI"/>
              </a:rPr>
              <a:t>Reviewer-Handbuch, Architektur-Doku, Smoke-Tests inklusive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4476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Wenig Angriffsfläche. Kein Vendor-Lock-in. Sofort einsatzbereit.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9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7C83FF"/>
                </a:solidFill>
                <a:latin typeface="Segoe UI"/>
              </a:rPr>
              <a:t>ALLES AUF EINEN 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>
                <a:solidFill>
                  <a:srgbClr val="F2F5FA"/>
                </a:solidFill>
                <a:latin typeface="Segoe UI"/>
              </a:rPr>
              <a:t>Feature-Highlights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94767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Kapazität &amp; Planung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6829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Freie vCPU / RAM / Storage je Cluster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N+1-Reserve &amp; vSAN-Faktor eingerechnet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Tanzu-/K8s-Namespaces zählen mit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Workload aus vROps · 2-Jahres-Trends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5" y="178308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94767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Governance &amp; Freigaben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9" y="236829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Mehrstufiger Genehmigungs-Workflow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Auto-Freigabe nach Schwellen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Lückenloses Audit-Log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Mail-Benachrichtigungen &amp; Erinnerungen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178308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5" y="194767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Netzwerk &amp;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5" y="236829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VLAN-/Portgruppen-Suche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LUN-Drilldown inkl. NAA &amp; WWPN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Storage-Brücke ans Team (API/CSV)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Mindest-LUN- &amp; Namensfilter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32511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Rollen &amp; Sicherheit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74573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AD-Anmeldung &amp; AD-Gruppen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Sichtbarkeits-Matrix je Rolle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vROps-Quellen-Filter je Nutzer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CSP-Härtung · 5 CI-Scanner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5" y="416052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432511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Integration &amp; Betrieb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474573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Multi-vROps + Offline-Import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Lesende v1-API (Bearer-Token)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SFTP-Backup · JSON oder SQLite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/healthz · Proxy-fähig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1" y="4160520"/>
            <a:ext cx="3511296" cy="2240280"/>
          </a:xfrm>
          <a:prstGeom prst="roundRect">
            <a:avLst/>
          </a:prstGeom>
          <a:solidFill>
            <a:srgbClr val="151E33"/>
          </a:solidFill>
          <a:ln w="12700">
            <a:solidFill>
              <a:srgbClr val="2A36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5" y="4325112"/>
            <a:ext cx="3145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7C83FF"/>
                </a:solidFill>
                <a:latin typeface="Segoe UI"/>
              </a:rPr>
              <a:t>Bedienung &amp; Doku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4745736"/>
            <a:ext cx="30906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Zweisprachig DE/EN · Hell-/Dunkel-Modus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Sortieren, Blättern, Spalten wählen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Konfigurierbare Zeitzone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•  </a:t>
            </a:r>
            <a:r>
              <a:rPr sz="1050" b="0">
                <a:solidFill>
                  <a:srgbClr val="F2F5FA"/>
                </a:solidFill>
                <a:latin typeface="Segoe UI"/>
              </a:rPr>
              <a:t>Reviewer-Handbuch &amp; Architektur-Doku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C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0" y="641908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10 /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93A0B5"/>
                </a:solidFill>
                <a:latin typeface="Segoe UI"/>
              </a:rPr>
              <a:t>VMware Kapazitätsplanung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